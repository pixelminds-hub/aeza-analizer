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Вклад (вес × значение)</c:v>
                </c:pt>
              </c:strCache>
            </c:strRef>
          </c:tx>
          <c:spPr>
            <a:solidFill>
              <a:srgbClr val="F97415"/>
            </a:solidFill>
          </c:spPr>
          <c:cat>
            <c:strRef>
              <c:f>Sheet1!$A$2:$A$8</c:f>
              <c:strCache>
                <c:ptCount val="7"/>
                <c:pt idx="0">
                  <c:v>Близость даты окончания · 3,0</c:v>
                </c:pt>
                <c:pt idx="1">
                  <c:v>Ожидание продления · 2,5</c:v>
                </c:pt>
                <c:pt idx="2">
                  <c:v>Автопродление отключено · 2,0</c:v>
                </c:pt>
                <c:pt idx="3">
                  <c:v>Неуспешные продления · 2,0</c:v>
                </c:pt>
                <c:pt idx="4">
                  <c:v>Доля неуспешных продлений · 1,5</c:v>
                </c:pt>
                <c:pt idx="5">
                  <c:v>Недостаточно средств · 2,0</c:v>
                </c:pt>
                <c:pt idx="6">
                  <c:v>Услуга приостановлена · 2,0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3.0</c:v>
                </c:pt>
                <c:pt idx="1">
                  <c:v>2.5</c:v>
                </c:pt>
                <c:pt idx="2">
                  <c:v>2.0</c:v>
                </c:pt>
                <c:pt idx="3">
                  <c:v>2.0</c:v>
                </c:pt>
                <c:pt idx="4">
                  <c:v>1.5</c:v>
                </c:pt>
                <c:pt idx="5">
                  <c:v>0.0</c:v>
                </c:pt>
                <c:pt idx="6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1E1E1"/>
            </a:solidFill>
          </a:ln>
        </c:spPr>
        <c:txPr>
          <a:bodyPr/>
          <a:lstStyle/>
          <a:p>
            <a:pPr>
              <a:defRPr sz="950">
                <a:latin typeface="Manrop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(15 сек):</a:t>
            </a:r>
          </a:p>
          <a:p>
            <a:r>
              <a:t>«У Aéza есть снимок клиентской базы. Мы задали один вопрос: как найти клиента,</a:t>
            </a:r>
          </a:p>
          <a:p>
            <a:r>
              <a:t>который может уйти, понять почему и оценить деньги, пока он ещё не ушёл.</a:t>
            </a:r>
          </a:p>
          <a:p>
            <a:r>
              <a:t>Вот что получилось.»</a:t>
            </a:r>
          </a:p>
          <a:p/>
          <a:p>
            <a:r>
              <a:t>Не начинайте с определения оттока и не читайте подзаголовок вслух — он на экране.</a:t>
            </a:r>
          </a:p>
          <a:p>
            <a:r>
              <a:t>ПЕРЕД ЗАЩИТОЙ: вписать название команды и участников, поставить реальные QR</a:t>
            </a:r>
          </a:p>
          <a:p>
            <a:r>
              <a:t>на демо-стенд и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«По 30 услугам снимка: 12 уже близки к окончанию, 9 не продлятся автоматически,</a:t>
            </a:r>
          </a:p>
          <a:p>
            <a:r>
              <a:t>по 6 есть неуспешные продления и 6 услуг приостановлены. Каждый сигнал по</a:t>
            </a:r>
          </a:p>
          <a:p>
            <a:r>
              <a:t>отдельности выглядит безобидно. Вместе они описывают клиента, который может уйти.</a:t>
            </a:r>
          </a:p>
          <a:p>
            <a:r>
              <a:t>Проблема в том, что в общем списке этого не видно: нет ни приоритета, ни объяснения.</a:t>
            </a:r>
          </a:p>
          <a:p>
            <a:r>
              <a:t>Отсюда — поздняя реакция.»</a:t>
            </a:r>
          </a:p>
          <a:p/>
          <a:p>
            <a:r>
              <a:t>Показать: три блока схемы, затем цифры нижней полосы.</a:t>
            </a:r>
          </a:p>
          <a:p>
            <a:r>
              <a:t>Возможный вопрос: «Это статистика реальной базы Aéza?» — Нет. Это подсчёт по</a:t>
            </a:r>
          </a:p>
          <a:p>
            <a:r>
              <a:t>синтетическому снимку из комплекта кейса. Мы не приписываем эти числа реальным</a:t>
            </a:r>
          </a:p>
          <a:p>
            <a:r>
              <a:t>клиентам Aéza.</a:t>
            </a:r>
          </a:p>
          <a:p>
            <a:r>
              <a:t>Переход: «Поэтому мы собрали инструмент, который делает это за аналитика.»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сек):</a:t>
            </a:r>
          </a:p>
          <a:p>
            <a:r>
              <a:t>«Продукт делает четыре вещи: находит клиентов под риском и сортирует их,</a:t>
            </a:r>
          </a:p>
          <a:p>
            <a:r>
              <a:t>показывает балл риска, объясняет оценку конкретными сигналами и позволяет</a:t>
            </a:r>
          </a:p>
          <a:p>
            <a:r>
              <a:t>менять веса модели. Всё это — реальный интерфейс запущенного приложения, а не макет.»</a:t>
            </a:r>
          </a:p>
          <a:p/>
          <a:p>
            <a:r>
              <a:t>Показать: маркеры 1–4 сверху, затем слева таблицу клиентов (обратите внимание на</a:t>
            </a:r>
          </a:p>
          <a:p>
            <a:r>
              <a:t>строку user-0010@example.test — верхняя, балл 73,3), справа сводные метрики и блок</a:t>
            </a:r>
          </a:p>
          <a:p>
            <a:r>
              <a:t>«Основные причины риска».</a:t>
            </a:r>
          </a:p>
          <a:p>
            <a:r>
              <a:t>Возможный вопрос: «Это прототип на макете?» — Нет. Приложение запущено:</a:t>
            </a:r>
          </a:p>
          <a:p>
            <a:r>
              <a:t>FastAPI + Postgres + React, работает на снимке из комплекта кейса.</a:t>
            </a:r>
          </a:p>
          <a:p>
            <a:r>
              <a:t>Переход: «Пройдём этот путь на конкретном клиенте.»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«Открываем список клиентов — он уже отсортирован по риску. Верхняя строка:</a:t>
            </a:r>
          </a:p>
          <a:p>
            <a:r>
              <a:t>клиент #10, балл 73,3 из 100, категория «высокий». Выбираем его не случайно —</a:t>
            </a:r>
          </a:p>
          <a:p>
            <a:r>
              <a:t>это максимум по списку.</a:t>
            </a:r>
          </a:p>
          <a:p>
            <a:r>
              <a:t>Что мы про него знаем из данных: три услуги, все пригодны для прогноза,</a:t>
            </a:r>
          </a:p>
          <a:p>
            <a:r>
              <a:t>баланс 203,79 €, всего пополнено 4 206,69 €. Выручка под риском — ноль,</a:t>
            </a:r>
          </a:p>
          <a:p>
            <a:r>
              <a:t>и это отдельный важный момент, к нему вернёмся на слайде про деньги.</a:t>
            </a:r>
          </a:p>
          <a:p>
            <a:r>
              <a:t>Причины: услуга просрочена на 35 дней, два продления из двух не выполнены,</a:t>
            </a:r>
          </a:p>
          <a:p>
            <a:r>
              <a:t>автопродление выключено.»</a:t>
            </a:r>
          </a:p>
          <a:p/>
          <a:p>
            <a:r>
              <a:t>Показать: /customers → клик по #10 → шапка, метрики, блок «Причины оценки».</a:t>
            </a:r>
          </a:p>
          <a:p>
            <a:r>
              <a:t>Возможный вопрос: «Почему балл клиента 73,3, а не среднее по услугам?» —</a:t>
            </a:r>
          </a:p>
          <a:p>
            <a:r>
              <a:t>Правило продукта: балл клиента — максимум по услугам, пригодным для прогноза.</a:t>
            </a:r>
          </a:p>
          <a:p>
            <a:r>
              <a:t>Среднее замаскировало бы одну критичную услугу.</a:t>
            </a:r>
          </a:p>
          <a:p>
            <a:r>
              <a:t>Переход: «Разберём, из чего складывается этот балл.»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(50 сек):</a:t>
            </a:r>
          </a:p>
          <a:p>
            <a:r>
              <a:t>«Балл — это не «алгоритм решил». Формула простая и проверяемая: сто умножить на</a:t>
            </a:r>
          </a:p>
          <a:p>
            <a:r>
              <a:t>сумму вес×значение, делить на сумму весов. По этой услуге сумма вкладов 11 из 15 —</a:t>
            </a:r>
          </a:p>
          <a:p>
            <a:r>
              <a:t>отсюда 73,3.</a:t>
            </a:r>
          </a:p>
          <a:p>
            <a:r>
              <a:t>Крупнейшие вклады: близость даты окончания — 3,0, ожидание продления — 2,5,</a:t>
            </a:r>
          </a:p>
          <a:p>
            <a:r>
              <a:t>автопродление и неуспешные продления — по 2,0.</a:t>
            </a:r>
          </a:p>
          <a:p>
            <a:r>
              <a:t>Два фактора дали ноль: баланса хватает на продление, услуга не приостановлена.</a:t>
            </a:r>
          </a:p>
          <a:p>
            <a:r>
              <a:t>Это тоже важно: модель не накручивает риск там, где сигналов нет.»</a:t>
            </a:r>
          </a:p>
          <a:p/>
          <a:p>
            <a:r>
              <a:t>Показать: диаграмму вкладов, затем правые карточки «наблюдение → интерпретация →</a:t>
            </a:r>
          </a:p>
          <a:p>
            <a:r>
              <a:t>влияние». В интерфейсе — кнопку «Показать все факторы (7)».</a:t>
            </a:r>
          </a:p>
          <a:p>
            <a:r>
              <a:t>Возможный вопрос: «Это машинное обучение?» — Нет, и мы это не скрываем.</a:t>
            </a:r>
          </a:p>
          <a:p>
            <a:r>
              <a:t>В снимке нет исторических исходов: обучать и валидировать классификатор не на чем.</a:t>
            </a:r>
          </a:p>
          <a:p>
            <a:r>
              <a:t>Модуль спроектирован под замену на калиброванную модель без смены API.</a:t>
            </a:r>
          </a:p>
          <a:p>
            <a:r>
              <a:t>Переход: «Теперь деньги — отдельно от риска.»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(45 сек):</a:t>
            </a:r>
          </a:p>
          <a:p>
            <a:r>
              <a:t>«Здесь важно не сложить несопоставимое. У клиента #10 балл высокий — 73,3,</a:t>
            </a:r>
          </a:p>
          <a:p>
            <a:r>
              <a:t>но выручка под риском ноль. Почему? Все его сроки уже прошли: просроченные</a:t>
            </a:r>
          </a:p>
          <a:p>
            <a:r>
              <a:t>продления лежат в прошлом, а горизонт смотрит вперёд. Услуг с продлением</a:t>
            </a:r>
          </a:p>
          <a:p>
            <a:r>
              <a:t>внутри 30 дней у него нет.</a:t>
            </a:r>
          </a:p>
          <a:p>
            <a:r>
              <a:t>Баланс 203,79 € и пополнения 4 206,69 € — это не потерянные деньги. Мы держим</a:t>
            </a:r>
          </a:p>
          <a:p>
            <a:r>
              <a:t>три величины раздельно: выручка под риском — прогноз, предстоящие продления —</a:t>
            </a:r>
          </a:p>
          <a:p>
            <a:r>
              <a:t>сумма без риска, пополнения — справочная история.»</a:t>
            </a:r>
          </a:p>
          <a:p/>
          <a:p>
            <a:r>
              <a:t>Показать: формулу, затем таблицу «Ближайшие продления в горизонте» — 4 строки,</a:t>
            </a:r>
          </a:p>
          <a:p>
            <a:r>
              <a:t>и три итоговые метрики внизу.</a:t>
            </a:r>
          </a:p>
          <a:p>
            <a:r>
              <a:t>Возможный вопрос: «Почему сумма такая маленькая?» — Потому что горизонт 30 дней,</a:t>
            </a:r>
          </a:p>
          <a:p>
            <a:r>
              <a:t>и в него попадают 4 продления из 30 услуг. Это честная оценка по доступным полям,</a:t>
            </a:r>
          </a:p>
          <a:p>
            <a:r>
              <a:t>а не бухгалтерский прогноз: календаря будущих списаний в снимке нет.</a:t>
            </a:r>
          </a:p>
          <a:p>
            <a:r>
              <a:t>Переход: «Теперь проверим гипотезу: изменим вес фактора.»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(60 сек):</a:t>
            </a:r>
          </a:p>
          <a:p>
            <a:r>
              <a:t>«Сначала формулируем ожидание: усилим фактор «близость даты окончания» с трёх</a:t>
            </a:r>
          </a:p>
          <a:p>
            <a:r>
              <a:t>до девяти. Гипотеза — баллы вырастут, клиентов высокого риска станет больше.</a:t>
            </a:r>
          </a:p>
          <a:p>
            <a:r>
              <a:t>Идём в настройки модели, меняем вес, нажимаем «Сохранить».</a:t>
            </a:r>
          </a:p>
          <a:p>
            <a:r>
              <a:t>Смотрите, что произошло. Балл клиента #10: 73,3 → 81,0. Клиентов высокого риска:</a:t>
            </a:r>
          </a:p>
          <a:p>
            <a:r>
              <a:t>2 → 3, среднего: 4 → 3. Выручка под риском: 5,74 → 7,48 €.</a:t>
            </a:r>
          </a:p>
          <a:p>
            <a:r>
              <a:t>Это не декоративный контрол: настройка уходит на сервер, сохраняется в базе и</a:t>
            </a:r>
          </a:p>
          <a:p>
            <a:r>
              <a:t>пересчитывает всю аналитику. Кнопка «Значения по умолчанию» возвращает исходные числа.»</a:t>
            </a:r>
          </a:p>
          <a:p/>
          <a:p>
            <a:r>
              <a:t>Показать: /settings → поле веса expiry_proximity 3 → 9 → «Сохранить». Сводка в шапке</a:t>
            </a:r>
          </a:p>
          <a:p>
            <a:r>
              <a:t>обновляется на месте, без перезагрузки: 2 → 3 высокого, 4 → 3 среднего, 5,74 → 7,48 €,</a:t>
            </a:r>
          </a:p>
          <a:p>
            <a:r>
              <a:t>сумма весов 15,0 → 21,0. Затем открыть карточку клиента #10 (балл 81,0) и вернуться</a:t>
            </a:r>
          </a:p>
          <a:p>
            <a:r>
              <a:t>в настройки, нажав «Значения по умолчанию».</a:t>
            </a:r>
          </a:p>
          <a:p>
            <a:r>
              <a:t>Возможный вопрос: «Пересчёт автоматический?» — Да. Настройки сохраняются на сервере,</a:t>
            </a:r>
          </a:p>
          <a:p>
            <a:r>
              <a:t>бэкенд пересчитывает всю аналитику, и интерфейс подтягивает новые значения сразу,</a:t>
            </a:r>
          </a:p>
          <a:p>
            <a:r>
              <a:t>без ручной перезагрузки. Проверено на стенде: страница настроек остаётся открытой,</a:t>
            </a:r>
          </a:p>
          <a:p>
            <a:r>
              <a:t>URL не меняется, числа в сводке обновляются сами.</a:t>
            </a:r>
          </a:p>
          <a:p>
            <a:r>
              <a:t>Переход: «Что это даёт команде Aéza.»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(35 сек):</a:t>
            </a:r>
          </a:p>
          <a:p>
            <a:r>
              <a:t>«Что получает аналитик Aéza: приоритизированный список вместо ручного просмотра,</a:t>
            </a:r>
          </a:p>
          <a:p>
            <a:r>
              <a:t>объяснение вместо непрозрачного числа, денежную оценку отдельно от баланса и</a:t>
            </a:r>
          </a:p>
          <a:p>
            <a:r>
              <a:t>возможность проверить гипотезу, поменяв веса.</a:t>
            </a:r>
          </a:p>
          <a:p>
            <a:r>
              <a:t>И сразу честно про границы: балл — не вероятность в процентах, точность мы не</a:t>
            </a:r>
          </a:p>
          <a:p>
            <a:r>
              <a:t>измеряли, потому что в снимке нет истории уходов. Мы не обещаем снижение оттока —</a:t>
            </a:r>
          </a:p>
          <a:p>
            <a:r>
              <a:t>мы даём инструмент для решения.»</a:t>
            </a:r>
          </a:p>
          <a:p/>
          <a:p>
            <a:r>
              <a:t>Показать: четыре карточки, затем нижний блок ограничений — его проговариваем</a:t>
            </a:r>
          </a:p>
          <a:p>
            <a:r>
              <a:t>обязательно, это сильный ход перед бизнес-заказчиком.</a:t>
            </a:r>
          </a:p>
          <a:p>
            <a:r>
              <a:t>Возможный вопрос: «Какая точность модели?» — Не измерена и не заявлена. В данных</a:t>
            </a:r>
          </a:p>
          <a:p>
            <a:r>
              <a:t>нет исходов оттока, обучать и валидировать классификатор не на чем.</a:t>
            </a:r>
          </a:p>
          <a:p>
            <a:r>
              <a:t>Переход: «Коротко про то, как это устроено внутри.»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(30 сек, при технически подкованном заказчике):</a:t>
            </a:r>
          </a:p>
          <a:p>
            <a:r>
              <a:t>«Путь данных короткий: снимок Aéza проходит валидацию целиком до записи и</a:t>
            </a:r>
          </a:p>
          <a:p>
            <a:r>
              <a:t>применяется атомарно, скоринг живёт в одном модуле, результат уходит в API и в панель.</a:t>
            </a:r>
          </a:p>
          <a:p>
            <a:r>
              <a:t>Отдельно про пропуски: отсутствующий сигнал не превращается в ноль и не понижает</a:t>
            </a:r>
          </a:p>
          <a:p>
            <a:r>
              <a:t>риск — фактор просто исключается, а веса перенормируются.</a:t>
            </a:r>
          </a:p>
          <a:p>
            <a:r>
              <a:t>И про границы: истории уходов нет, календаря списаний нет, динамики нет, нагрузку</a:t>
            </a:r>
          </a:p>
          <a:p>
            <a:r>
              <a:t>на больших объёмах мы не измеряли.»</a:t>
            </a:r>
          </a:p>
          <a:p/>
          <a:p>
            <a:r>
              <a:t>Показать: цепочку, затем два блока ограничений. Не читать всё вслух — выбрать 2–3 пункта.</a:t>
            </a:r>
          </a:p>
          <a:p>
            <a:r>
              <a:t>Возможный вопрос: «Что будет на 10 000 клиентов?» — Список пагинируется, фильтры и</a:t>
            </a:r>
          </a:p>
          <a:p>
            <a:r>
              <a:t>сортировка выполняются в SQL, а не в браузере. Нагрузочного тестирования не проводили —</a:t>
            </a:r>
          </a:p>
          <a:p>
            <a:r>
              <a:t>говорим честно.</a:t>
            </a:r>
          </a:p>
          <a:p>
            <a:r>
              <a:t>Переход: «Финальный слайд.»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сказать (20 сек):</a:t>
            </a:r>
          </a:p>
          <a:p>
            <a:r>
              <a:t>«Мы не обещаем автоматического удержания. Мы даём команде возможность увидеть риск</a:t>
            </a:r>
          </a:p>
          <a:p>
            <a:r>
              <a:t>раньше и действовать до того, как клиент уйдёт.</a:t>
            </a:r>
          </a:p>
          <a:p>
            <a:r>
              <a:t>Предлагаем следующий шаг: вместе проверить модель на данных Aéza и понять, какие</a:t>
            </a:r>
          </a:p>
          <a:p>
            <a:r>
              <a:t>сигналы действительно полезны вашей команде удержания. Спасибо.»</a:t>
            </a:r>
          </a:p>
          <a:p/>
          <a:p>
            <a:r>
              <a:t>ПЕРЕД ЗАЩИТОЙ: подставить название команды, имена и роли, контакт; заменить два</a:t>
            </a:r>
          </a:p>
          <a:p>
            <a:r>
              <a:t>QR-блока-заглушки (демо и контакты) на реальные ссылки. QR GitHub уже настоящий:</a:t>
            </a:r>
          </a:p>
          <a:p>
            <a:r>
              <a:t>он закодирован из адреса публичного репозитория и проверен декодированием,</a:t>
            </a:r>
          </a:p>
          <a:p>
            <a:r>
              <a:t>заменяйте только если репозиторий переедет.</a:t>
            </a:r>
          </a:p>
          <a:p>
            <a:r>
              <a:t>Возможный вопрос: «Что дальше по продукту?» — Когда появятся исторические исходы,</a:t>
            </a:r>
          </a:p>
          <a:p>
            <a:r>
              <a:t>логистическая регрессия на тех же признаках заменит формулу без изменения контракта</a:t>
            </a:r>
          </a:p>
          <a:p>
            <a:r>
              <a:t>API и 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45575" y="0"/>
            <a:ext cx="3246120" cy="685800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945575" y="0"/>
            <a:ext cx="41148" cy="6858000"/>
          </a:xfrm>
          <a:prstGeom prst="rect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30352"/>
            <a:ext cx="1280160" cy="305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060704"/>
            <a:ext cx="7498079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UMIRHACK 2026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00784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Увидеть риск оттока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32736"/>
            <a:ext cx="7863840" cy="57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97415"/>
                </a:solidFill>
                <a:latin typeface="Manrope"/>
                <a:cs typeface="Manrope"/>
                <a:ea typeface="Manrope"/>
              </a:rPr>
              <a:t>раньше, чем клиент уйдёт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22191"/>
            <a:ext cx="7223760" cy="549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Aéza Analyzer — инструмент для поиска клиентов под риском, объяснения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причин и оценки потенциальных потерь.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882896"/>
            <a:ext cx="722376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5065776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03520"/>
            <a:ext cx="4572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650992"/>
            <a:ext cx="4937760" cy="1916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[ИМЯ УЧАСТНИКА 1] · [ИМЯ УЧАСТНИКА 2] · [ИМЯ УЧАСТНИКА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089904"/>
            <a:ext cx="512064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ЗАПОЛНИТЬ ПЕРЕД ЗАЩИТОЙ · команда и QR-ссылки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527" y="1883664"/>
            <a:ext cx="1737360" cy="150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 ДЛЯ ЖЮРИ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04527" y="2231136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3087" y="371246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04527" y="4041648"/>
            <a:ext cx="1426464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3087" y="5522976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[QR-КОД: GITHUB]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БИЗНЕС-ПРОБЛЕМА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Сигналы разрознены — риск остаётся незаметным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продолжает пользоваться услугой, но отдельные признаки уже говорят о риске. По одному статусу и общей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выручке этого не увидеть.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Разрозненные сигналы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Дата окончания, автопродление, неуспешные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продления, статус услуги — каждое поле живёт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отдельно.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50766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091944"/>
            <a:ext cx="3442106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66818" y="235712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5962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 остаётся незаметным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 общем списке клиентов нет приоритета: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проблемный аккаунт выглядит так же, как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здоровый.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7192" y="2823464"/>
            <a:ext cx="173736" cy="237744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2091944"/>
            <a:ext cx="3442106" cy="1755648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2091944"/>
            <a:ext cx="3442106" cy="41148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83244" y="2357120"/>
            <a:ext cx="274320" cy="274320"/>
          </a:xfrm>
          <a:prstGeom prst="ellipse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2388" y="2750312"/>
            <a:ext cx="3039770" cy="224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Поздняя реакция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38856"/>
            <a:ext cx="3039770" cy="5383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Разбираются, когда услуга уже истекла. Причины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 собраны в одном месте, поэтому действовать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заранее не с чем.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21912"/>
            <a:ext cx="10874959" cy="151790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59656"/>
            <a:ext cx="2834640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Сигналы риска в снимке Aéza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52264"/>
            <a:ext cx="2834640" cy="4888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Прямой подсчёт по 30 услугам датасета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организатора; одна услуга может попасть в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несколько категорий.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6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8496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близость даты окончания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42431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727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4727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автопродление отключено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8662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58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58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неуспешные продления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54893" y="4432808"/>
            <a:ext cx="9525" cy="896112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37189" y="4432808"/>
            <a:ext cx="1636775" cy="3357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37189" y="4821047"/>
            <a:ext cx="1636775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приостановлена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Источник: Aéza Analyzer, блок «Основные причины риска», опорный момент 2026-10-19 15:00 UTC. Набор кейса синтетический.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Один экран: приоритет, причина,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Aéza Analyzer ранжирует клиентов по риску, объясняет каждую оценку наблюдаемыми сигналами и считает выручку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 риском отдельно от баланса.</a:t>
            </a:r>
          </a:p>
        </p:txBody>
      </p:sp>
      <p:sp>
        <p:nvSpPr>
          <p:cNvPr id="6" name="Oval 5"/>
          <p:cNvSpPr/>
          <p:nvPr/>
        </p:nvSpPr>
        <p:spPr>
          <a:xfrm>
            <a:off x="667512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Список клиентов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258568"/>
            <a:ext cx="2334691" cy="295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сортировка по риску, фильтр по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категории</a:t>
            </a:r>
          </a:p>
        </p:txBody>
      </p:sp>
      <p:sp>
        <p:nvSpPr>
          <p:cNvPr id="9" name="Oval 8"/>
          <p:cNvSpPr/>
          <p:nvPr/>
        </p:nvSpPr>
        <p:spPr>
          <a:xfrm>
            <a:off x="3386251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6291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Балл риска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6291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0–100 и категория в карточке клиента</a:t>
            </a:r>
          </a:p>
        </p:txBody>
      </p:sp>
      <p:sp>
        <p:nvSpPr>
          <p:cNvPr id="12" name="Oval 11"/>
          <p:cNvSpPr/>
          <p:nvPr/>
        </p:nvSpPr>
        <p:spPr>
          <a:xfrm>
            <a:off x="6104990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030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Причины оценки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5030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фактор с числом и вкладом</a:t>
            </a:r>
          </a:p>
        </p:txBody>
      </p:sp>
      <p:sp>
        <p:nvSpPr>
          <p:cNvPr id="15" name="Oval 14"/>
          <p:cNvSpPr/>
          <p:nvPr/>
        </p:nvSpPr>
        <p:spPr>
          <a:xfrm>
            <a:off x="8823729" y="2084832"/>
            <a:ext cx="274320" cy="274320"/>
          </a:xfrm>
          <a:prstGeom prst="ellipse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69" y="2057400"/>
            <a:ext cx="2334691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Настройки модели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769" y="2258568"/>
            <a:ext cx="2334691" cy="1570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· /settings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07208"/>
            <a:ext cx="649224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СПИСОК КЛИЕНТОВ ПО РИСКУ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" y="3012948"/>
            <a:ext cx="6556248" cy="202974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ust_table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044952"/>
            <a:ext cx="6486932" cy="196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58368" y="5120417"/>
            <a:ext cx="6492240" cy="180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Все 10 клиентов снимка отсортированы по риску: балл, уровень и выручка под риском в одной строке.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2807208"/>
            <a:ext cx="4108399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ПО БАЗЕ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92924" y="3012948"/>
            <a:ext cx="4172407" cy="113762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w_dash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8" y="3044952"/>
            <a:ext cx="4108399" cy="1073609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392924" y="4287730"/>
            <a:ext cx="4172407" cy="1125993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_dash_reas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8" y="4319734"/>
            <a:ext cx="4108399" cy="10619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24928" y="5491447"/>
            <a:ext cx="4108399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Сводка — по всем клиентам; причины риска — прямой подсчёт по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СКВОЗНОЙ СЦЕНАРИЙ · ШАГ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Клиент #10 — высокий риск, 73,3 из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Верхняя строка списка, отсортированного по риску по убыванию. Слева — реальные поля снимка, справа — тот же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в 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3840480" cy="397764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3364992" cy="2392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user-0010@example.test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69464"/>
            <a:ext cx="3364992" cy="165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Клиент #10 · 3 услуги, все 3 пригодны для прогноза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862072"/>
            <a:ext cx="1078992" cy="274320"/>
          </a:xfrm>
          <a:prstGeom prst="roundRect">
            <a:avLst>
              <a:gd name="adj" fmla="val 32000"/>
            </a:avLst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ВЫСОКИЙ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55848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511296"/>
            <a:ext cx="3364992" cy="213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34A0A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844036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Категория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99484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Высокий (порог ≥ 65)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304284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Услуг высокого риска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459732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1 из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764532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919980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0,00 € — сроки уже прошли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24780"/>
            <a:ext cx="3364992" cy="1383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/ всего пополнено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380228"/>
            <a:ext cx="3364992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A1A1A"/>
                </a:solidFill>
                <a:latin typeface="Manrope Medium"/>
                <a:cs typeface="Manrope Medium"/>
                <a:ea typeface="Manrope Medium"/>
              </a:rPr>
              <a:t>203,79 € / 4 206,69 €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1456" y="2048256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КАРТОЧКА КЛИЕНТА #10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9452" y="2263140"/>
            <a:ext cx="6805879" cy="30352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10_page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295144"/>
            <a:ext cx="6741871" cy="239513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759452" y="2612382"/>
            <a:ext cx="3361791" cy="102400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_c10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2644386"/>
            <a:ext cx="3297767" cy="959997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203539" y="2612382"/>
            <a:ext cx="3361791" cy="1024005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_c10_r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5543" y="2644386"/>
            <a:ext cx="3297767" cy="95999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91456" y="3842127"/>
            <a:ext cx="674187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ПРИЧИНЫ ОЦЕНКИ ПО УСЛУГЕ service-0030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9452" y="4057011"/>
            <a:ext cx="6805879" cy="1336059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w_c10_reas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1456" y="4089015"/>
            <a:ext cx="6741871" cy="127205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91456" y="5470794"/>
            <a:ext cx="67418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Почему именно этот клиент: максимальный балл в списке, услуга просрочена на 35 дней, 2 из 2 продлений не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выполнены, автопродление отключено.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Опорный момент 2026-10-19 15:00 UTC. Данные: dataset/data.json (10 аккаунтов / 30 услуг / 100 транзакций). Балл риска — не вероятность оттока.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ПОЧЕМУ МОДЕЛЬ СЧИТАЕТ КЛИЕНТА РИСКОВАННЫМ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Балл объясним: видно каждый вклад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4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Формула: 100 × Σ(вес × значение) / Σвес. По service-0030 сумма вкладов 11,00 при сумме весов 15,0 → 73,3. Ниже — фактические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вклады из интерфейса.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59432"/>
            <a:ext cx="5989320" cy="399389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242312"/>
            <a:ext cx="5550408" cy="2024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Вклад факторов в балл 73,3 · service-0030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2571496"/>
          <a:ext cx="5660136" cy="3280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22008" y="2059432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22008" y="2059432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23176" y="2214880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Наблюдение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2455672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Данные снимка: expiresAt 14.09.2026, autoProlong = false, 2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продления из 2 со статусом not_performed.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22008" y="3431878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22008" y="3431878"/>
            <a:ext cx="41148" cy="1249002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23176" y="3587326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Интерпретация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23176" y="3828118"/>
            <a:ext cx="4208983" cy="34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Услуга просрочена, продление не завершено, решение о продлении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зависит от клиента.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22008" y="4804324"/>
            <a:ext cx="4611319" cy="1249002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22008" y="4804324"/>
            <a:ext cx="41148" cy="1249002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23176" y="4959772"/>
            <a:ext cx="4208983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Влияние на оценку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6" y="5200564"/>
            <a:ext cx="4208983" cy="505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Три крупнейших фактора дают 3,0 + 2,5 + 2,0 = 7,5 из 15,0. 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неуспешными продлениями и их долей (2,0 + 1,5) сумма вкладов 11,0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из 15,0 — отсюда 73,3, выше порога 65.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74959" cy="307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Факторы: expiry_proximity, prolong_wait_status, auto_prolong_disabled, failed_renewals, renewal_failure_rate, insufficient_balance, suspended_status. Причинно-следственная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связь не доказана: исторических исходов оттока в снимке нет.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ДЕНЕЖНАЯ ОЦЕНКА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Риск и деньги — разные величины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= стоимость продления × балл риска / 100, и только для открытых услуг с продлением внутри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768096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212848"/>
            <a:ext cx="65836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выручка под риском  </a:t>
            </a:r>
            <a:r>
              <a:rPr sz="1500" b="1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=  стоимость продления × балл риска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65008" y="2295144"/>
            <a:ext cx="3193999" cy="170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Баланс в формулу не входит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118104"/>
            <a:ext cx="3977639" cy="29352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19272"/>
            <a:ext cx="3538727" cy="359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Клиент #10 — высокий риск, но 0,00 € под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риском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703320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858768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B34A0A"/>
                </a:solidFill>
                <a:latin typeface="Manrope SemiBold"/>
                <a:cs typeface="Manrope SemiBold"/>
                <a:ea typeface="Manrope SemiBold"/>
              </a:rPr>
              <a:t>73,3 / 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37672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3120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0,00 €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772024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ПОЧЕМУ НОЛЬ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27472"/>
            <a:ext cx="3538727" cy="16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Сроки уже прошли — горизонт смотрит вперёд.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242876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БАЛАНС — НЕ ВЫРУЧКА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5398324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203,79 €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777228"/>
            <a:ext cx="3538727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ВСЕГО ПОПОЛНЕНО — СПРАВОЧНО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5932676"/>
            <a:ext cx="3538727" cy="232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4 206,69 €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0327" y="3090672"/>
            <a:ext cx="6623000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РЕАЛЬНЫЙ ИНТЕРФЕЙС · БЛИЖАЙШИЕ ПРОДЛЕНИЯ В ГОРИЗОНТЕ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8323" y="3323844"/>
            <a:ext cx="6687008" cy="1307592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enew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7" y="3355848"/>
            <a:ext cx="6623000" cy="1210084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910327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8343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8343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5,74 €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8343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прогнозная экспозиция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4569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82585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ПРЕДСТОЯЩИЕ ПРОДЛЕНИЯ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2585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17,03 €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82585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сумма без учёта риска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8811" y="4965192"/>
            <a:ext cx="2134514" cy="108813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526827" y="5093208"/>
            <a:ext cx="1878482" cy="13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ИСТОРИЧЕСКИЕ ПОПОЛНЕНИЯ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6827" y="5330952"/>
            <a:ext cx="1878482" cy="221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22 240,73 €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26827" y="5641848"/>
            <a:ext cx="1878482" cy="1424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справочно, не суммируется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Горизонт 30 дней. Сумма по четырём продлениям: 0,32 + 0,77 + 1,57 + 3,08 = 5,74 €. Оценка не является гарантированным прогнозом потерь.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СКВОЗНОЙ СЦЕНАРИЙ · ШАГ 4–5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Меняем вес — результат пересчитывается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Гипотеза до изменения: усилим «близость даты окончания» с 3,0 до 9,0 — баллы вырастут. Проверяем на реальном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интерфейсе.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75688"/>
            <a:ext cx="10874959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075688"/>
            <a:ext cx="41148" cy="420624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76272"/>
            <a:ext cx="1043604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ГИПОТЕЗА ДО ИЗМЕНЕНИЯ   </a:t>
            </a:r>
            <a:r>
              <a:rPr sz="1100" b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 expiry_proximity 3,0 → 9,0 должен повысить баллы и число клиентов высокого риска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ДО · ВЕС 3,0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2734056"/>
            <a:ext cx="5282031" cy="1510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ПОСЛЕ · ВЕС 9,0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" y="2921508"/>
            <a:ext cx="5346039" cy="82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_se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53512"/>
            <a:ext cx="5282031" cy="76358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219291" y="2921508"/>
            <a:ext cx="5346039" cy="827594"/>
          </a:xfrm>
          <a:prstGeom prst="rect">
            <a:avLst/>
          </a:prstGeom>
          <a:solidFill>
            <a:srgbClr val="FFFFFF"/>
          </a:solidFill>
          <a:ln w="1016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_se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295" y="2953512"/>
            <a:ext cx="5282031" cy="76358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58368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риска клиента #10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9074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5378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Балл service-0030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73,3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81,0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9780" y="3977640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6084" y="4069080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высокого риска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6084" y="4251960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2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Клиентов среднего риска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4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9074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5378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Выручка под риском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5378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5,74 €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7,48 €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9780" y="4745736"/>
            <a:ext cx="3533546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6084" y="4837176"/>
            <a:ext cx="3240938" cy="1316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Сумма весов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46084" y="5020056"/>
            <a:ext cx="324093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66666"/>
                </a:solidFill>
                <a:latin typeface="Manrope Medium"/>
                <a:cs typeface="Manrope Medium"/>
                <a:ea typeface="Manrope Medium"/>
              </a:rPr>
              <a:t>15,0</a:t>
            </a:r>
            <a:r>
              <a:rPr sz="1500" b="0">
                <a:solidFill>
                  <a:srgbClr val="C9C9C9"/>
                </a:solidFill>
                <a:latin typeface="Manrope Medium"/>
                <a:cs typeface="Manrope Medium"/>
                <a:ea typeface="Manrope Medium"/>
              </a:rPr>
              <a:t>   →   </a:t>
            </a:r>
            <a:r>
              <a:rPr sz="1500" b="1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21,0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641848"/>
            <a:ext cx="1087495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Расчёт: сумма весов выросла с 15,0 до 21,0, вклад фактора — с 3,0 до 9,0, поэтому 100 × 17,0 / 21,0 = 81,0. Настройка сохраняется на сервере, сводка обновляется сразу, без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перезагрузки страницы; кнопка «Значения по умолчанию» возвращает исходные 3,0 и прежние числа.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РЕЗУЛЬТАТ ДЛЯ БИЗНЕСА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Команда видит, с кого начать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Четыре подтверждённые возможности продукта — и то, что мы сознательно не заявляем.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Приоритет вместо ручного просмотра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Список отсортирован по риску, фильтр по категории оставляет только тех, кто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требует внимания.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1856232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856232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0751" y="2002536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Причина вместо непрозрачного числа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0751" y="2248154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Каждый балл разложен на факторы с числами из данных и рекомендациями по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удержанию.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Деньги отдельно от риска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Выручка под риском считается по продлениям внутри горизонта; баланс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пополнения с ней не смешиваются.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2990088"/>
            <a:ext cx="5300319" cy="969264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2990088"/>
            <a:ext cx="41148" cy="969264"/>
          </a:xfrm>
          <a:prstGeom prst="rect">
            <a:avLst/>
          </a:prstGeom>
          <a:solidFill>
            <a:srgbClr val="83CD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0751" y="3136392"/>
            <a:ext cx="4843119" cy="1998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Проверка гипотез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0751" y="3382010"/>
            <a:ext cx="4843119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Веса, горизонт и пороги меняются из интерфейса; результат пересчитывается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сразу.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33672"/>
            <a:ext cx="10874959" cy="18196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41148" cy="1819656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398264"/>
            <a:ext cx="10399471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Чего мы не заявляем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646041"/>
            <a:ext cx="10399471" cy="3649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Балл риска — не вероятность оттока в процентах: в снимке нет исторических исходов, поэтому модель построена на правилах, а не обучена. Точность, снижение оттока 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рост выручки не измерены — мы их не обещаем. Продукт помогает анализировать и приоритизировать; удержание зависит от следующих действий команды.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17920"/>
            <a:ext cx="10874959" cy="9525"/>
          </a:xfrm>
          <a:prstGeom prst="rect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74959" cy="1630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Подтверждено запуском продукта на датасете организатора: снимок импортирован, все экраны и пересчёт проверены вживую.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48640"/>
            <a:ext cx="1087495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B34A0A"/>
                </a:solidFill>
                <a:latin typeface="Manrope"/>
                <a:cs typeface="Manrope"/>
                <a:ea typeface="Manrope"/>
              </a:rPr>
              <a:t>АРХИТЕКТУРА ДОВЕРИЯ И ОГРАНИЧЕНИЯ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95528"/>
            <a:ext cx="10874959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Manrope"/>
                <a:cs typeface="Manrope"/>
                <a:ea typeface="Manrope"/>
              </a:rPr>
              <a:t>Данные → проверка → расчёт → интерфейс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44168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Короткий путь данных. Никаких скрытых шагов и никакой подмены отсутствующих сигналов нулём.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Снимок Aéza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data.json: 10 аккаунтов, 30 услуг,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100 транзакций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21659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5687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5687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0279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Импорт с проверкой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0279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валидация целиком до записи,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применение атомарно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008978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6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6" y="1856232"/>
            <a:ext cx="2512999" cy="41148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8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Скоринг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7598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один модуль: вес × фактор, сумма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весов в знаменателе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96297" y="2340864"/>
            <a:ext cx="173736" cy="219456"/>
          </a:xfrm>
          <a:prstGeom prst="rightArrow">
            <a:avLst/>
          </a:prstGeom>
          <a:solidFill>
            <a:srgbClr val="E1E1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20325" y="1856232"/>
            <a:ext cx="2512999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0325" y="1856232"/>
            <a:ext cx="2512999" cy="41148"/>
          </a:xfrm>
          <a:prstGeom prst="rect">
            <a:avLst/>
          </a:prstGeom>
          <a:solidFill>
            <a:srgbClr val="B34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4917" y="2039112"/>
            <a:ext cx="2183815" cy="18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API и интерфейс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4917" y="2270760"/>
            <a:ext cx="2183815" cy="331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FastAPI + Postgres, панель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аналитика на React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319272"/>
            <a:ext cx="5274355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3483864"/>
            <a:ext cx="4835443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Как обрабатываются пропуски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3731641"/>
            <a:ext cx="4835443" cy="137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Неизвестное ≠ ноль: фактор без данных исключается из числителя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знаменателя, веса перенормируются.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Услуги deleted и blocked — состоявшееся событие, а не прогноз: балл им не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присваивается.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Цена не входит в формулу риска: price — это экспозиция, а не вероятность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ухода.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Опорный момент зафиксирован (2026-10-19 15:00 UTC), поэтому числа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воспроизводимы.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7043" y="3319272"/>
            <a:ext cx="5326284" cy="2734056"/>
          </a:xfrm>
          <a:prstGeom prst="rect">
            <a:avLst/>
          </a:prstGeom>
          <a:solidFill>
            <a:srgbClr val="FFFFFF"/>
          </a:solidFill>
          <a:ln w="11430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499" y="3483864"/>
            <a:ext cx="4887372" cy="192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Manrope SemiBold"/>
                <a:cs typeface="Manrope SemiBold"/>
                <a:ea typeface="Manrope SemiBold"/>
              </a:rPr>
              <a:t>Ограничения, которые важно знать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6499" y="3731641"/>
            <a:ext cx="4887372" cy="1039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истории оттока — отсюда модель на правилах и отсутствие метрик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точности.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календаря будущих списаний: даты продлений выведены из expiresAt и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paymentTerm.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Нет динамики: снимок описывает один момент, график тренда не строится.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• Нагрузка не измерялась: набор кейса — 10 / 30 / 100 записей.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13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4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_logo_on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66928"/>
            <a:ext cx="1280160" cy="3057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1060704"/>
            <a:ext cx="731520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3CDB7"/>
                </a:solidFill>
                <a:latin typeface="Manrope"/>
                <a:cs typeface="Manrope"/>
                <a:ea typeface="Manrope"/>
              </a:rPr>
              <a:t>ИТОГ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758952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Manrope"/>
                <a:cs typeface="Manrope"/>
                <a:ea typeface="Manrope"/>
              </a:rPr>
              <a:t>Не ждать ухода клиента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64080"/>
            <a:ext cx="7589520" cy="729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97415"/>
                </a:solidFill>
                <a:latin typeface="Manrope SemiBold"/>
                <a:cs typeface="Manrope SemiBold"/>
                <a:ea typeface="Manrope SemiBold"/>
              </a:rPr>
              <a:t>Дать команде увидеть риск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97415"/>
                </a:solidFill>
                <a:latin typeface="Manrope SemiBold"/>
                <a:cs typeface="Manrope SemiBold"/>
                <a:ea typeface="Manrope SemiBold"/>
              </a:rPr>
              <a:t>и действовать раньше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6448"/>
            <a:ext cx="7315200" cy="711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Предлагаем следующий шаг: вместе проверить модель на данных Aéza и определить, какие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сигналы действительно полезны команде удержания. Это предложение, а не существующая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договорённость.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224528"/>
            <a:ext cx="7315200" cy="9525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07408"/>
            <a:ext cx="384048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КОМАНДА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4572000" cy="266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Manrope SemiBold"/>
                <a:cs typeface="Manrope SemiBold"/>
                <a:ea typeface="Manrope SemiBold"/>
              </a:rPr>
              <a:t>[НАЗВАНИЕ КОМАНДЫ]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4830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1] · [РОЛЬ УЧАСТНИКА 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14661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2] · [РОЛЬ УЧАСТНИКА 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4921"/>
            <a:ext cx="4937760" cy="1983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9C9C9"/>
                </a:solidFill>
                <a:latin typeface="Manrope"/>
                <a:cs typeface="Manrope"/>
                <a:ea typeface="Manrope"/>
              </a:rPr>
              <a:t>[ИМЯ УЧАСТНИКА 3] · [РОЛЬ УЧАСТНИКА 3]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616383"/>
            <a:ext cx="4937760" cy="1729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3CDB7"/>
                </a:solidFill>
                <a:latin typeface="Manrope Medium"/>
                <a:cs typeface="Manrope Medium"/>
                <a:ea typeface="Manrope Medium"/>
              </a:rPr>
              <a:t>[КОНТАКТ / TELEGRAM]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64447" y="1261872"/>
            <a:ext cx="2103120" cy="15824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ССЫЛКИ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7015" y="1563624"/>
            <a:ext cx="1152144" cy="1152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4447" y="1591056"/>
            <a:ext cx="1097280" cy="10972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064447" y="2752344"/>
            <a:ext cx="2103120" cy="1370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GITHUB] · репозиторий проекта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64447" y="3310128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3007" y="446227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ДЕМО]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64447" y="4846320"/>
            <a:ext cx="10972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9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66666"/>
                </a:solidFill>
                <a:latin typeface="Manrope SemiBold"/>
                <a:cs typeface="Manrope SemiBold"/>
                <a:ea typeface="Manrope SemiBold"/>
              </a:rPr>
              <a:t>[ВСТАВИТЬ QR]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3007" y="599846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E8E8E"/>
                </a:solidFill>
                <a:latin typeface="Manrope SemiBold"/>
                <a:cs typeface="Manrope SemiBold"/>
                <a:ea typeface="Manrope SemiBold"/>
              </a:rPr>
              <a:t>[QR-КОД: КОНТАКТЫ]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64447" y="6144768"/>
            <a:ext cx="2103120" cy="140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66666"/>
                </a:solidFill>
                <a:latin typeface="Manrope"/>
                <a:cs typeface="Manrope"/>
                <a:ea typeface="Manrope"/>
              </a:rPr>
              <a:t>ЗАПОЛНИТЬ ПЕРЕД ЗАЩИТОЙ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4447" y="6327648"/>
            <a:ext cx="2103120" cy="145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E8E8E"/>
                </a:solidFill>
                <a:latin typeface="Manrope"/>
                <a:cs typeface="Manrope"/>
                <a:ea typeface="Manrope"/>
              </a:rPr>
              <a:t>Вставьте реальные ссылки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Aéza Analyzer — защита UMIRHACK 2026</dc:title>
  <dc:subject>Анализ риска оттока клиентов хостинг-провайдера</dc:subject>
  <dc:creator>[НАЗВАНИЕ КОМАНДЫ]</dc:creator>
  <cp:keywords/>
  <dc:description>Все числа и скриншоты получены из запущенного Aéza Analyzer на датасете организатора, опорный момент 2026-10-19 15:00 UTC.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