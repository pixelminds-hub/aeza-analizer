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type="screen16x9"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Представиться. Одно предложение: инструмент находит клиентов под риском оттока и объясняет, почему они в группе риска, — на реальных данных Aéza. Дальше — сквозной сценарий защиты.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давить цифрами, которых у нас нет. Проблема методическая: сигналы разбросаны, и никто не сводит их в одну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Скриншот — главный герой. Справа — что именно умеет система, без маркетинговых обещаний.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живой клиент из датасета. Обратить внимание: высокая категория риска и три открытые услуги. Почему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жюри видит механику. Пять факторов из семи сработали; два нулевых честно показаны серыми. И сразу снимаем вопрос «это ML?» — нет, и мы это не скрываем.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денежные метрики намеренно разделены, складывать их нельзя. Формула — дословно из кода. И честный момент: у клиента #10 выручка под риском нулевая, потому что сроки уже прошли.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Шаг 1 ключевого сценария. Показать вес 3, назвать сумму весов 15,0. Дальше — сохранение и пересчёт на живом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защиты. Один вес — и клиент #10 идёт с 73,3 на 81,0, высокий риск растёт с 2 до 3, выручка под риском с 5,74 до 7,48 €. Полосы внизу — те же панели, что видит аналитик в приложении. Числа воспроизводимы: опорная дата зафиксирована.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Честность здесь работает на нас: мы называем границы сами, до вопросов жюри. И показываем путь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Одна мысль крупно. Перед защитой подставить название команды, имена, контакт и сгенерировать QR по подтверждённым ссылкам.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310896" cy="3810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83CDB7"/>
                </a:solidFill>
                <a:latin typeface="Inter"/>
                <a:ea typeface="Inter"/>
                <a:cs typeface="Inter"/>
              </a:rPr>
              <a:t>ХАКАТОН ОСЕНЬ 2026 · ДГТУ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68580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4500" b="1" i="0">
                <a:solidFill>
                  <a:srgbClr val="FFFFFF"/>
                </a:solidFill>
                <a:latin typeface="Inter"/>
                <a:ea typeface="Inter"/>
                <a:cs typeface="Inter"/>
              </a:rPr>
              <a:t>Увидеть риск</a:t>
            </a:r>
          </a:p>
          <a:p>
            <a:pPr algn="l">
              <a:lnSpc>
                <a:spcPct val="98000"/>
              </a:lnSpc>
            </a:pPr>
            <a:r>
              <a:rPr sz="4500" b="1" i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оттока раньше,</a:t>
            </a:r>
          </a:p>
          <a:p>
            <a:pPr algn="l">
              <a:lnSpc>
                <a:spcPct val="98000"/>
              </a:lnSpc>
            </a:pPr>
            <a:r>
              <a:rPr sz="450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чем клиент уйдёт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4498848"/>
            <a:ext cx="1920240" cy="0"/>
          </a:xfrm>
          <a:prstGeom prst="line">
            <a:avLst/>
          </a:prstGeom>
          <a:ln w="25400">
            <a:solidFill>
              <a:srgbClr val="EF6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4718304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E8ECF1"/>
                </a:solidFill>
                <a:latin typeface="Inter"/>
                <a:ea typeface="Inter"/>
                <a:cs typeface="Inter"/>
              </a:rPr>
              <a:t>Aéza Analyzer — аналитика риска оттока клиентов хостинг-провайдера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50992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[НАЗВАНИЕ КОМАНДЫ]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XIX Форум программных разработчиков · Ростов-на-Дону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19" y="2387440"/>
            <a:ext cx="3703322" cy="2083119"/>
          </a:xfrm>
          <a:prstGeom prst="rect">
            <a:avLst/>
          </a:prstGeom>
          <a:solidFill>
            <a:srgbClr val="FFFFFF"/>
          </a:solidFill>
          <a:ln w="9525">
            <a:solidFill>
              <a:srgbClr val="33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387441"/>
            <a:ext cx="3703320" cy="20831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18120" y="559612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Рабочий интерфейс на данных кейса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8595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Клиент может уйти раньше,
чем команда это заметит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95728"/>
            <a:ext cx="5577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Отток не начинается с явной отмены услуги. Задолго до неё в данных появляются отдельные изменения: срок подходит к концу, автопродление выключено, списание не проходит.</a:t>
            </a:r>
          </a:p>
          <a:p>
            <a:pPr algn="l">
              <a:lnSpc>
                <a:spcPct val="145000"/>
              </a:lnSpc>
              <a:spcBef>
                <a:spcPts val="1200"/>
              </a:spcBef>
            </a:pPr>
            <a:r>
              <a:rPr sz="16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По отдельности каждый сигнал выглядит безобидно. Проблема в том, что их смотрят по разным отчётам — или не смотрят вовсе.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864608"/>
            <a:ext cx="5577840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502920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1">
                <a:solidFill>
                  <a:srgbClr val="202B3A"/>
                </a:solidFill>
                <a:latin typeface="Inter"/>
                <a:ea typeface="Inter"/>
                <a:cs typeface="Inter"/>
              </a:rPr>
              <a:t>Задача. </a:t>
            </a:r>
            <a:r>
              <a:rPr sz="1650" b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Не просто увидеть, кто уже ушёл, а определить, кому стоит уделить внимание сейчас.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2395728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ЧТО МЕНЯЕТСЯ ПЕРЕД УХОДОМ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916936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25512" y="283464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Срок услуги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истекает или уже истёк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3877056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25512" y="379476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Автопродление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выключено — решения нет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4837176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525512" y="475488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Продление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не проходит: not_performed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48272" y="2395728"/>
            <a:ext cx="0" cy="338328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60899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Мы не приводим статистику оттока Aéza и отраслевые цифры: в исходных данных нет истории уходов.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315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От данных клиента —
к объяснимому сигналу риска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893" y="2487167"/>
            <a:ext cx="4708733" cy="3401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01b-dashboard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894" y="2487168"/>
            <a:ext cx="4708731" cy="3401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75320" y="2487168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ЧТО ДЕЛАЕТ СИСТЕМА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907792"/>
            <a:ext cx="3154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1  </a:t>
            </a:r>
            <a:r>
              <a:rPr sz="1300" b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Находит клиентов с повышенным риском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657600"/>
            <a:ext cx="3154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2  </a:t>
            </a:r>
            <a:r>
              <a:rPr sz="1300" b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Объясняет, какие факторы повлияли на оценку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4407408"/>
            <a:ext cx="3154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3  </a:t>
            </a:r>
            <a:r>
              <a:rPr sz="1300" b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Показывает доступную финансовую оценку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5157216"/>
            <a:ext cx="3154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4  </a:t>
            </a:r>
            <a:r>
              <a:rPr sz="1300" b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Позволяет проверить влияние новых параметров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6089904"/>
            <a:ext cx="10637215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621792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Снимок данных кейса: 10 клиентов · 30 услуг · 100 транзакций. Это реальный датасет организатора, а не демонстрационная заглушка.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КЛИЕНТ ПОД РИСКОМ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8869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Клиент #10: высокая категория риска
при трёх услугах в ожидании продления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95728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73.3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9300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балл риска клиента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822191"/>
            <a:ext cx="1170432" cy="27432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170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Высокий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4425696"/>
            <a:ext cx="3200400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457200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Клиент </a:t>
            </a:r>
            <a:r>
              <a:rPr sz="1250" b="1">
                <a:solidFill>
                  <a:srgbClr val="202B3A"/>
                </a:solidFill>
                <a:latin typeface="Inter"/>
                <a:ea typeface="Inter"/>
                <a:cs typeface="Inter"/>
              </a:rPr>
              <a:t>#10</a:t>
            </a:r>
            <a:r>
              <a:rPr sz="1250" b="0">
                <a:solidFill>
                  <a:srgbClr val="6B7480"/>
                </a:solidFill>
                <a:latin typeface="Inter"/>
                <a:ea typeface="Inter"/>
                <a:cs typeface="Inter"/>
              </a:rPr>
              <a:t> · 3 услуги, 3 в прогнозе</a:t>
            </a:r>
          </a:p>
          <a:p>
            <a:pPr algn="l">
              <a:spcBef>
                <a:spcPts val="600"/>
              </a:spcBef>
            </a:pPr>
            <a:r>
              <a:rPr sz="125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1 услуга</a:t>
            </a:r>
            <a:r>
              <a:rPr sz="1250" b="0">
                <a:solidFill>
                  <a:srgbClr val="6B7480"/>
                </a:solidFill>
                <a:latin typeface="Inter"/>
                <a:ea typeface="Inter"/>
                <a:cs typeface="Inter"/>
              </a:rPr>
              <a:t> высокого риска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4267" y="2395727"/>
            <a:ext cx="6404866" cy="360273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03-customer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268" y="2395728"/>
            <a:ext cx="6404864" cy="3602736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777240" y="6144768"/>
            <a:ext cx="10637215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6272784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Идентификатор клиента взят из датасета; адрес не показываем. Критичная услуга — service-0030: 73.3 балла, стоимость продления 7,02 €.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ПРИЧИНЫ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Оценка — это сумма наблюдаемых сигналов,
а не мнение алгоритма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УСЛУГА SERVICE-0030 · ВКЛАД КАЖДОГО ФАКТОРА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70632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Близость даты окончания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9624" y="2770632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816352"/>
            <a:ext cx="1417320" cy="118872"/>
          </a:xfrm>
          <a:prstGeom prst="rect">
            <a:avLst/>
          </a:prstGeom>
          <a:solidFill>
            <a:srgbClr val="D9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166360" y="2816352"/>
            <a:ext cx="1417320" cy="118872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75120" y="2770632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3.0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91256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Автопродление отключено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3191256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60" y="3236976"/>
            <a:ext cx="1417320" cy="118872"/>
          </a:xfrm>
          <a:prstGeom prst="rect">
            <a:avLst/>
          </a:prstGeom>
          <a:solidFill>
            <a:srgbClr val="D9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166360" y="3236976"/>
            <a:ext cx="944880" cy="118872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75120" y="3191256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61188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Недостаточно средств для продления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9624" y="3611880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60" y="3657600"/>
            <a:ext cx="1417320" cy="118872"/>
          </a:xfrm>
          <a:prstGeom prst="rect">
            <a:avLst/>
          </a:prstGeom>
          <a:solidFill>
            <a:srgbClr val="D9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32504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Ожидание продления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4032504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 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6360" y="4078224"/>
            <a:ext cx="1417320" cy="118872"/>
          </a:xfrm>
          <a:prstGeom prst="rect">
            <a:avLst/>
          </a:prstGeom>
          <a:solidFill>
            <a:srgbClr val="D9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166360" y="4078224"/>
            <a:ext cx="1181100" cy="118872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75120" y="4032504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2.5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5312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Неуспешные продления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9624" y="4453128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 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66360" y="4498848"/>
            <a:ext cx="1417320" cy="118872"/>
          </a:xfrm>
          <a:prstGeom prst="rect">
            <a:avLst/>
          </a:prstGeom>
          <a:solidFill>
            <a:srgbClr val="D9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166360" y="4498848"/>
            <a:ext cx="944880" cy="118872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75120" y="445312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873752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Услуга приостановлена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4873752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66360" y="4919472"/>
            <a:ext cx="1417320" cy="118872"/>
          </a:xfrm>
          <a:prstGeom prst="rect">
            <a:avLst/>
          </a:prstGeom>
          <a:solidFill>
            <a:srgbClr val="D9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75120" y="4873752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0.0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294376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Доля неуспешных продлений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9624" y="5294376"/>
            <a:ext cx="1170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 1.5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66360" y="5340096"/>
            <a:ext cx="1417320" cy="118872"/>
          </a:xfrm>
          <a:prstGeom prst="rect">
            <a:avLst/>
          </a:prstGeom>
          <a:solidFill>
            <a:srgbClr val="D9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166360" y="5340096"/>
            <a:ext cx="708660" cy="118872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75120" y="5294376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1.5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77240" y="5870448"/>
            <a:ext cx="6766560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599846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02B3A"/>
                </a:solidFill>
                <a:latin typeface="Inter"/>
                <a:ea typeface="Inter"/>
                <a:cs typeface="Inter"/>
              </a:rPr>
              <a:t>Итог: </a:t>
            </a:r>
            <a:r>
              <a:rPr sz="1250" b="0">
                <a:solidFill>
                  <a:srgbClr val="202B3A"/>
                </a:solidFill>
                <a:latin typeface="Inter"/>
                <a:ea typeface="Inter"/>
                <a:cs typeface="Inter"/>
              </a:rPr>
              <a:t>100 × 11 / 15 = 73.3 из 100. </a:t>
            </a:r>
            <a:r>
              <a:rPr sz="1250" b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Веса настраиваются аналитиком.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377440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КАК ЭТО ЧИТАТЬ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2440" y="2843784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421624" y="2798064"/>
            <a:ext cx="300837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Балл — сила наблюдаемых сигналов, не вероятность ухода в процентах.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92440" y="3904488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21624" y="3858768"/>
            <a:ext cx="300837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Факторы не доказывают причину оттока: модель rule-based, без обучения.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2440" y="4965192"/>
            <a:ext cx="137160" cy="13716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421624" y="4919472"/>
            <a:ext cx="300837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Нулевой вес исключает фактор; сумма весов пересчитывается.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ДЕНЕЖНАЯ ОЦЕНКА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8961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Риск и деньги — разные величины,
поэтому считаются отдельно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32304"/>
            <a:ext cx="3200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Выручка под риском</a:t>
            </a:r>
          </a:p>
          <a:p>
            <a:pPr algn="l">
              <a:spcBef>
                <a:spcPts val="600"/>
              </a:spcBef>
            </a:pPr>
            <a:r>
              <a:rPr sz="270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5,74 €</a:t>
            </a:r>
          </a:p>
          <a:p>
            <a:pPr algn="l">
              <a:spcBef>
                <a:spcPts val="400"/>
              </a:spcBef>
            </a:pPr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прогноз в пределах горизонта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33672" y="2432304"/>
            <a:ext cx="0" cy="118872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89120" y="2432304"/>
            <a:ext cx="3200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Предстоящие продления</a:t>
            </a:r>
          </a:p>
          <a:p>
            <a:pPr algn="l">
              <a:spcBef>
                <a:spcPts val="600"/>
              </a:spcBef>
            </a:pPr>
            <a:r>
              <a:rPr sz="27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17,03 €</a:t>
            </a:r>
          </a:p>
          <a:p>
            <a:pPr algn="l">
              <a:spcBef>
                <a:spcPts val="400"/>
              </a:spcBef>
            </a:pPr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сумма без учёта риска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45552" y="2432304"/>
            <a:ext cx="0" cy="118872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001000" y="2432304"/>
            <a:ext cx="3200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Исторические пополнения</a:t>
            </a:r>
          </a:p>
          <a:p>
            <a:pPr algn="l">
              <a:spcBef>
                <a:spcPts val="600"/>
              </a:spcBef>
            </a:pPr>
            <a:r>
              <a:rPr sz="20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22 240,73 €</a:t>
            </a:r>
          </a:p>
          <a:p>
            <a:pPr algn="l">
              <a:spcBef>
                <a:spcPts val="400"/>
              </a:spcBef>
            </a:pPr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справочно, в прогноз не входит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3968496"/>
            <a:ext cx="10637215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4151376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ФОРМУЛА ИЗ КОДА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443984"/>
            <a:ext cx="5852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41832" y="4535424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02B3A"/>
                </a:solidFill>
                <a:latin typeface="DejaVu Sans Mono"/>
                <a:ea typeface="DejaVu Sans Mono"/>
                <a:cs typeface="DejaVu Sans Mono"/>
              </a:rPr>
              <a:t>revenue_at_risk = стоимость продления × балл риска / 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Учитываются только продления внутри горизонта 30 дней и только по услугам, пригодным для прогноза. Баланс клиента и исторические пополнения в выручку под риском не входят.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151376"/>
            <a:ext cx="4343400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06056" y="4297680"/>
            <a:ext cx="3904487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Клиент #10: выручка под риском 0,00 €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Несмотря на высокий балл, все его продления лежат в прошлом, а горизонт — окно вперёд. Денег в горизонте у него нет.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 этом и смысл разделять балл риска и выручку под риском: иначе мы показали бы ложную сумму.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7240" y="6217920"/>
            <a:ext cx="10637215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6327648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Оценка приблизительная: она опирается на стоимость продления и балл риска, а не на подтверждённую историю платежей.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КЛЮЧЕВОЙ СЦЕНАРИЙ · ШАГ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Меняем коэффициент
и сразу проверяем гипотезу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ВЕСА МОДЕЛИ · КОНФИГУРАЦИЯ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7977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Близость даты окончания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2779776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4553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Ожидание продления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3145536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2.5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1129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Автопродление отключено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511296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7705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Недостаточно средств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77056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4281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Неуспешные продления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242816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0857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Услуга приостановлена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4608576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7433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Доля неуспешных продлений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4974336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1.5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394960"/>
            <a:ext cx="5029200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52297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Сумма весов 15,0. Меняем «Близость даты окончания»: 3 → 9.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799" y="2929291"/>
            <a:ext cx="5010914" cy="35933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08-metric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929292"/>
            <a:ext cx="5010912" cy="3593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3931920"/>
            <a:ext cx="50109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Панель метрик до изменения веса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443984"/>
            <a:ext cx="50109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Изменение веса — не косметика: оно уходит на сервер, сохраняется в базе и пересчитывает всю аналитику.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После сохранения меняются и баллы клиентов, и денежная оценка — это следующий слайд.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83CDB7"/>
                </a:solidFill>
                <a:latin typeface="Inter"/>
                <a:ea typeface="Inter"/>
                <a:cs typeface="Inter"/>
              </a:rPr>
              <a:t>КЛЮЧЕВОЙ СЦЕНАРИЙ · ШАГ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После пересчёта картина меняется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БАЛЛ РИСКА КЛИЕНТА #10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66543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9AA7B8"/>
                </a:solidFill>
                <a:latin typeface="Inter"/>
                <a:ea typeface="Inter"/>
                <a:cs typeface="Inter"/>
              </a:rPr>
              <a:t>73.3</a:t>
            </a:r>
            <a:r>
              <a:rPr sz="4000" b="0">
                <a:solidFill>
                  <a:srgbClr val="9AA7B8"/>
                </a:solidFill>
                <a:latin typeface="Inter"/>
                <a:ea typeface="Inter"/>
                <a:cs typeface="Inter"/>
              </a:rPr>
              <a:t>  →  </a:t>
            </a:r>
            <a:r>
              <a:rPr sz="400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81.0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7739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020824"/>
            <a:ext cx="5806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9AA7B8"/>
                </a:solidFill>
                <a:latin typeface="Inter"/>
                <a:ea typeface="Inter"/>
                <a:cs typeface="Inter"/>
              </a:rPr>
              <a:t>2</a:t>
            </a:r>
            <a:r>
              <a:rPr sz="1900" b="0">
                <a:solidFill>
                  <a:srgbClr val="9AA7B8"/>
                </a:solidFill>
                <a:latin typeface="Inter"/>
                <a:ea typeface="Inter"/>
                <a:cs typeface="Inter"/>
              </a:rPr>
              <a:t>  →  </a:t>
            </a:r>
            <a:r>
              <a:rPr sz="1900" b="1">
                <a:solidFill>
                  <a:srgbClr val="83CDB7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6334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Клиентов среднего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2880360"/>
            <a:ext cx="5806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9AA7B8"/>
                </a:solidFill>
                <a:latin typeface="Inter"/>
                <a:ea typeface="Inter"/>
                <a:cs typeface="Inter"/>
              </a:rPr>
              <a:t>4</a:t>
            </a:r>
            <a:r>
              <a:rPr sz="1900" b="0">
                <a:solidFill>
                  <a:srgbClr val="9AA7B8"/>
                </a:solidFill>
                <a:latin typeface="Inter"/>
                <a:ea typeface="Inter"/>
                <a:cs typeface="Inter"/>
              </a:rPr>
              <a:t>  →  </a:t>
            </a:r>
            <a:r>
              <a:rPr sz="1900" b="1">
                <a:solidFill>
                  <a:srgbClr val="83CDB7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349300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Выручка под риском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3739896"/>
            <a:ext cx="5806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9AA7B8"/>
                </a:solidFill>
                <a:latin typeface="Inter"/>
                <a:ea typeface="Inter"/>
                <a:cs typeface="Inter"/>
              </a:rPr>
              <a:t>5,74 €</a:t>
            </a:r>
            <a:r>
              <a:rPr sz="1900" b="0">
                <a:solidFill>
                  <a:srgbClr val="9AA7B8"/>
                </a:solidFill>
                <a:latin typeface="Inter"/>
                <a:ea typeface="Inter"/>
                <a:cs typeface="Inter"/>
              </a:rPr>
              <a:t>  →  </a:t>
            </a:r>
            <a:r>
              <a:rPr sz="1900" b="1">
                <a:solidFill>
                  <a:srgbClr val="83CDB7"/>
                </a:solidFill>
                <a:latin typeface="Inter"/>
                <a:ea typeface="Inter"/>
                <a:cs typeface="Inter"/>
              </a:rPr>
              <a:t>7,48 €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07408"/>
            <a:ext cx="685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ДО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1151" y="4407407"/>
            <a:ext cx="9180913" cy="658370"/>
          </a:xfrm>
          <a:prstGeom prst="rect">
            <a:avLst/>
          </a:prstGeom>
          <a:solidFill>
            <a:srgbClr val="FFFFFF"/>
          </a:solidFill>
          <a:ln w="9525">
            <a:solidFill>
              <a:srgbClr val="33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08-metric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152" y="4407408"/>
            <a:ext cx="9180911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93792"/>
            <a:ext cx="685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ПОСЛЕ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1151" y="5193791"/>
            <a:ext cx="9180913" cy="658370"/>
          </a:xfrm>
          <a:prstGeom prst="rect">
            <a:avLst/>
          </a:prstGeom>
          <a:solidFill>
            <a:srgbClr val="FFFFFF"/>
          </a:solidFill>
          <a:ln w="9525">
            <a:solidFill>
              <a:srgbClr val="33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09-metrics-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152" y="5193792"/>
            <a:ext cx="9180911" cy="658368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777240" y="6053328"/>
            <a:ext cx="10637215" cy="0"/>
          </a:xfrm>
          <a:prstGeom prst="line">
            <a:avLst/>
          </a:prstGeom>
          <a:ln w="9525">
            <a:solidFill>
              <a:srgbClr val="33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618134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Изменён один вес: «Близость даты окончания», 3 → 9. Настройки сохраняются на сервере и переживают перезапуск процесса.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F634D"/>
                </a:solidFill>
                <a:latin typeface="Inter"/>
                <a:ea typeface="Inter"/>
                <a:cs typeface="Inter"/>
              </a:rPr>
              <a:t>ЦЕННОСТЬ И ОГРАНИЧЕНИЯ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863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Что получает аналитик
и чего система не обещает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9572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ЧТО ПОЛУЧАЕТ СПЕЦИАЛИСТ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52928"/>
            <a:ext cx="137160" cy="13716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06424" y="2798064"/>
            <a:ext cx="4754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Список клиентов, которым следует уделить внимание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11296"/>
            <a:ext cx="137160" cy="13716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06424" y="3456432"/>
            <a:ext cx="4754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Объяснение факторов риска по каждой услуге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169664"/>
            <a:ext cx="137160" cy="13716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06424" y="4114800"/>
            <a:ext cx="4754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Финансовый контекст: что именно под угрозой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37160" cy="13716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06424" y="4773168"/>
            <a:ext cx="4754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Проверку гипотез через изменение весов и горизонта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2395728"/>
            <a:ext cx="0" cy="338328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66560" y="2395728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ЧЕГО МЫ НЕ ЗАЯВЛЯЕМ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2852928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5744" y="2798064"/>
            <a:ext cx="433425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Балл риска — не откалиброванная вероятность оттока.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877056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95744" y="3822192"/>
            <a:ext cx="433425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Модель rule-based: в данных нет исходов для обучения и валидации.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4901184"/>
            <a:ext cx="137160" cy="137160"/>
          </a:xfrm>
          <a:prstGeom prst="rect">
            <a:avLst/>
          </a:prstGeom>
          <a:solidFill>
            <a:srgbClr val="EF6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95744" y="4846320"/>
            <a:ext cx="433425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02B3A"/>
                </a:solidFill>
                <a:latin typeface="Inter"/>
                <a:ea typeface="Inter"/>
                <a:cs typeface="Inter"/>
              </a:rPr>
              <a:t>Мы не измеряли снижение оттока и рост выручки.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" y="5961888"/>
            <a:ext cx="10637215" cy="0"/>
          </a:xfrm>
          <a:prstGeom prst="line">
            <a:avLst/>
          </a:prstGeom>
          <a:ln w="9525">
            <a:solidFill>
              <a:srgbClr val="D9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608990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Когда появятся данные об уходах, на тех же признаках можно обучить логистическую регрессию и откалибровать вероятности. Скоринг живёт в одном модуле именно для этого — контракт API и интерфейс при этом не меняются.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480"/>
                </a:solidFill>
                <a:latin typeface="Inter"/>
                <a:ea typeface="Inter"/>
                <a:cs typeface="Inter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310896" cy="38100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83CDB7"/>
                </a:solidFill>
                <a:latin typeface="Inter"/>
                <a:ea typeface="Inter"/>
                <a:cs typeface="Inter"/>
              </a:rPr>
              <a:t>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98448"/>
            <a:ext cx="7680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Не ждать ухода клиента.</a:t>
            </a:r>
          </a:p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Дать команде возможность</a:t>
            </a:r>
          </a:p>
          <a:p>
            <a:pPr algn="l">
              <a:lnSpc>
                <a:spcPct val="100000"/>
              </a:lnSpc>
            </a:pPr>
            <a:r>
              <a:rPr sz="4000" b="1">
                <a:solidFill>
                  <a:srgbClr val="EF634D"/>
                </a:solidFill>
                <a:latin typeface="Inter"/>
                <a:ea typeface="Inter"/>
                <a:cs typeface="Inter"/>
              </a:rPr>
              <a:t>действовать раньше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3840480"/>
            <a:ext cx="1920240" cy="0"/>
          </a:xfrm>
          <a:prstGeom prst="line">
            <a:avLst/>
          </a:prstGeom>
          <a:ln w="25400">
            <a:solidFill>
              <a:srgbClr val="EF6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4096512"/>
            <a:ext cx="5120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Inter"/>
                <a:ea typeface="Inter"/>
                <a:cs typeface="Inter"/>
              </a:rPr>
              <a:t>[НАЗВАНИЕ КОМАНДЫ]</a:t>
            </a:r>
          </a:p>
          <a:p>
            <a:pPr algn="l">
              <a:spcBef>
                <a:spcPts val="800"/>
              </a:spcBef>
            </a:pPr>
            <a:r>
              <a:rPr sz="12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[ИМЯ УЧАСТНИКА 1] — [РОЛЬ УЧАСТНИКА 1]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[ИМЯ УЧАСТНИКА 2] — [РОЛЬ УЧАСТНИКА 2]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[ИМЯ УЧАСТНИКА 3] — [РОЛЬ УЧАСТНИКА 3]</a:t>
            </a:r>
          </a:p>
          <a:p>
            <a:pPr algn="l">
              <a:spcBef>
                <a:spcPts val="1000"/>
              </a:spcBef>
            </a:pPr>
            <a:r>
              <a:rPr sz="12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[КОНТАКТ / TELEGRAM]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615184"/>
            <a:ext cx="1261872" cy="1261872"/>
          </a:xfrm>
          <a:prstGeom prst="rect">
            <a:avLst/>
          </a:prstGeom>
          <a:noFill/>
          <a:ln w="11430">
            <a:solidFill>
              <a:srgbClr val="33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7443216" y="3246120"/>
            <a:ext cx="822960" cy="0"/>
          </a:xfrm>
          <a:prstGeom prst="line">
            <a:avLst/>
          </a:prstGeom>
          <a:ln w="9525">
            <a:solidFill>
              <a:srgbClr val="33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54696" y="2834640"/>
            <a:ext cx="0" cy="822960"/>
          </a:xfrm>
          <a:prstGeom prst="line">
            <a:avLst/>
          </a:prstGeom>
          <a:ln w="9525">
            <a:solidFill>
              <a:srgbClr val="33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223760" y="3950208"/>
            <a:ext cx="126187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[ВСТАВИТЬ QR]</a:t>
            </a:r>
          </a:p>
          <a:p>
            <a:pPr algn="ctr"/>
            <a:r>
              <a:rPr sz="9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демо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8512" y="2615184"/>
            <a:ext cx="1261872" cy="1261872"/>
          </a:xfrm>
          <a:prstGeom prst="rect">
            <a:avLst/>
          </a:prstGeom>
          <a:noFill/>
          <a:ln w="11430">
            <a:solidFill>
              <a:srgbClr val="33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8887968" y="3246120"/>
            <a:ext cx="822960" cy="0"/>
          </a:xfrm>
          <a:prstGeom prst="line">
            <a:avLst/>
          </a:prstGeom>
          <a:ln w="9525">
            <a:solidFill>
              <a:srgbClr val="33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299448" y="2834640"/>
            <a:ext cx="0" cy="822960"/>
          </a:xfrm>
          <a:prstGeom prst="line">
            <a:avLst/>
          </a:prstGeom>
          <a:ln w="9525">
            <a:solidFill>
              <a:srgbClr val="33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68512" y="3950208"/>
            <a:ext cx="126187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[ВСТАВИТЬ QR]</a:t>
            </a:r>
          </a:p>
          <a:p>
            <a:pPr algn="ctr"/>
            <a:r>
              <a:rPr sz="9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GitHub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13264" y="2615184"/>
            <a:ext cx="1261872" cy="1261872"/>
          </a:xfrm>
          <a:prstGeom prst="rect">
            <a:avLst/>
          </a:prstGeom>
          <a:noFill/>
          <a:ln w="11430">
            <a:solidFill>
              <a:srgbClr val="334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Connector 16"/>
          <p:cNvCxnSpPr/>
          <p:nvPr/>
        </p:nvCxnSpPr>
        <p:spPr>
          <a:xfrm>
            <a:off x="10332720" y="3246120"/>
            <a:ext cx="822960" cy="0"/>
          </a:xfrm>
          <a:prstGeom prst="line">
            <a:avLst/>
          </a:prstGeom>
          <a:ln w="9525">
            <a:solidFill>
              <a:srgbClr val="33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744200" y="2834640"/>
            <a:ext cx="0" cy="822960"/>
          </a:xfrm>
          <a:prstGeom prst="line">
            <a:avLst/>
          </a:prstGeom>
          <a:ln w="9525">
            <a:solidFill>
              <a:srgbClr val="33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13264" y="3950208"/>
            <a:ext cx="126187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[ВСТАВИТЬ QR]</a:t>
            </a:r>
          </a:p>
          <a:p>
            <a:pPr algn="ctr"/>
            <a:r>
              <a:rPr sz="9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контакты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882896"/>
            <a:ext cx="41879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GitHub: github.com/Pixelminds-hub/aeza-analizer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5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Демо-стенд: [АДРЕС СТЕНДА] — вставить подтверждённую ссылку и сгенерировать QR-код.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8615" y="6327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AA7B8"/>
                </a:solidFill>
                <a:latin typeface="Inter"/>
                <a:ea typeface="Inter"/>
                <a:cs typeface="Inter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