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type="screen16x9"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Представиться. Одно предложение: инструмент находит клиентов под риском оттока и объясняет, почему они в группе риска, — на реальных данных Aéza. Дальше — сквозной сценарий защиты.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давить цифрами, которых у нас нет. Проблема методическая: сигналы разбросаны, и никто не сводит их в одну оценку.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Скриншот — главный герой. Справа — что именно умеет система, без маркетинговых обещаний.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живой клиент из датасета. Обратить внимание: высокая категория риска и три открытые услуги. Почему —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жюри видит механику. Пять факторов из семи сработали; два нулевых честно показаны серыми. И сразу снимаем вопрос «это ML?» — нет, и мы это не скрываем.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денежные метрики намеренно разделены, складывать их нельзя. Формула — дословно из кода. И честный момент: у клиента #10 выручка под риском нулевая, потому что сроки уже прошли.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Шаг 1 ключевого сценария. Показать вес 3, назвать сумму весов 15,0. Дальше — сохранение и пересчёт на живом приложении.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Кульминация защиты. Один вес — и клиент #10 идёт с 73,3 на 81,0, высокий риск растёт с 2 до 3, выручка под риском с 5,74 до 7,48 €. Полосы внизу — те же панели, что видит аналитик в приложении. Числа воспроизводимы: опорная дата зафиксирована.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Честность здесь работает на нас: мы называем границы сами, до вопросов жюри. И показываем путь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Одна мысль крупно. Перед защитой подставить название команды, имена, контакт и сгенерировать QR по подтверждённым ссылкам.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310896" cy="3810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3CDB7"/>
                </a:solidFill>
                <a:latin typeface="Inter"/>
                <a:ea typeface="Inter"/>
                <a:cs typeface="Inter"/>
              </a:rPr>
              <a:t>ХАКАТОН ОСЕНЬ 2026 · ДГТУ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6858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Увидеть риск</a:t>
            </a:r>
          </a:p>
          <a:p>
            <a:pPr algn="l">
              <a:lnSpc>
                <a:spcPct val="98000"/>
              </a:lnSpc>
            </a:pPr>
            <a:r>
              <a:rPr sz="4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оттока раньше,</a:t>
            </a:r>
          </a:p>
          <a:p>
            <a:pPr algn="l">
              <a:lnSpc>
                <a:spcPct val="98000"/>
              </a:lnSpc>
            </a:pPr>
            <a:r>
              <a:rPr sz="45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чем клиент уйдёт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4498848"/>
            <a:ext cx="1920240" cy="0"/>
          </a:xfrm>
          <a:prstGeom prst="line">
            <a:avLst/>
          </a:prstGeom>
          <a:ln w="25400">
            <a:solidFill>
              <a:srgbClr val="EF6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718304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E8ECF1"/>
                </a:solidFill>
                <a:latin typeface="Inter"/>
                <a:ea typeface="Inter"/>
                <a:cs typeface="Inter"/>
              </a:rPr>
              <a:t>Aéza Analyzer — аналитика риска оттока клиентов хостинг-провайдера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50992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[НАЗВАНИЕ КОМАНДЫ]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XIX Форум программных разработчиков · Ростов-на-Дону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19" y="2387440"/>
            <a:ext cx="3703322" cy="2083119"/>
          </a:xfrm>
          <a:prstGeom prst="rect">
            <a:avLst/>
          </a:prstGeom>
          <a:solidFill>
            <a:srgbClr val="FFFFFF"/>
          </a:solidFill>
          <a:ln w="9525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87441"/>
            <a:ext cx="3703320" cy="20831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8120" y="559612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Рабочий интерфейс на данных кейса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8595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Клиент может уйти раньше,
чем команда это заметит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5577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Отток не начинается с явной отмены услуги. Задолго до неё в данных появляются отдельные изменения: срок подходит к концу, автопродление выключено, списание не проходит.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16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По отдельности каждый сигнал выглядит безобидно. Проблема в том, что их смотрят по разным отчётам — или не смотрят вовсе.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864608"/>
            <a:ext cx="5577840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5029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202B3A"/>
                </a:solidFill>
                <a:latin typeface="Inter"/>
                <a:ea typeface="Inter"/>
                <a:cs typeface="Inter"/>
              </a:rPr>
              <a:t>Задача. </a:t>
            </a:r>
            <a:r>
              <a:rPr sz="165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Не просто увидеть, кто уже ушёл, а определить, кому стоит уделить внимание сейчас.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39572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ЧТО МЕНЯЕТСЯ ПЕРЕД УХОДОМ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916936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25512" y="283464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Срок услуги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истекает или уже истёк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3877056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25512" y="37947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Автопродление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выключено — решения нет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837176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25512" y="475488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Продление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не проходит: not_performed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48272" y="2395728"/>
            <a:ext cx="0" cy="338328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0899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Мы не приводим статистику оттока Aéza и отраслевые цифры: в исходных данных нет истории уходов.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От данных клиента —
к объяснимому сигналу риска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893" y="2487167"/>
            <a:ext cx="4708733" cy="340157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1b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894" y="2487168"/>
            <a:ext cx="4708731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24871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ЧТО ДЕЛАЕТ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907792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1  </a:t>
            </a:r>
            <a:r>
              <a:rPr sz="130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Находит клиентов с повышенным риском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657600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2  </a:t>
            </a:r>
            <a:r>
              <a:rPr sz="130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Объясняет, какие факторы повлияли на оценку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07408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3  </a:t>
            </a:r>
            <a:r>
              <a:rPr sz="130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Показывает доступную финансовую оценку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5157216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4  </a:t>
            </a:r>
            <a:r>
              <a:rPr sz="130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Позволяет проверить влияние новых параметров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089904"/>
            <a:ext cx="10637215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2179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Снимок данных кейса: 10 клиентов · 30 услуг · 100 транзакций. Это реальный датасет организатора, а не демонстрационная заглушка.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КЛИЕНТ ПОД РИСКОМ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Клиент #10: высокая категория риска
при трёх услугах в ожидании продления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71.4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930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балл риска клиента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822191"/>
            <a:ext cx="1170432" cy="27432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Высокий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425696"/>
            <a:ext cx="3200400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57200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Клиент </a:t>
            </a:r>
            <a:r>
              <a:rPr sz="1250" b="1">
                <a:solidFill>
                  <a:srgbClr val="202B3A"/>
                </a:solidFill>
                <a:latin typeface="Inter"/>
                <a:ea typeface="Inter"/>
                <a:cs typeface="Inter"/>
              </a:rPr>
              <a:t>#10</a:t>
            </a:r>
            <a:r>
              <a:rPr sz="1250" b="0">
                <a:solidFill>
                  <a:srgbClr val="6B7480"/>
                </a:solidFill>
                <a:latin typeface="Inter"/>
                <a:ea typeface="Inter"/>
                <a:cs typeface="Inter"/>
              </a:rPr>
              <a:t> · 3 услуги, 3 в прогнозе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2 услуги</a:t>
            </a:r>
            <a:r>
              <a:rPr sz="1250" b="0">
                <a:solidFill>
                  <a:srgbClr val="6B7480"/>
                </a:solidFill>
                <a:latin typeface="Inter"/>
                <a:ea typeface="Inter"/>
                <a:cs typeface="Inter"/>
              </a:rPr>
              <a:t> высокого риска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4267" y="2395727"/>
            <a:ext cx="6404866" cy="36027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03-customer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68" y="2395728"/>
            <a:ext cx="6404864" cy="3602736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777240" y="6144768"/>
            <a:ext cx="10637215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27278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Идентификатор клиента взят из датасета; адрес не показываем. Критичная услуга — service-0030: 71.4 балла, стоимость продления 7,02 €.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ПРИЧИНЫ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Оценка — это сумма наблюдаемых сигналов,
а не мнение алгоритма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УСЛУГА SERVICE-0030 · ВКЛАД КАЖДОГО ФАКТОРА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0632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Близость даты окончания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9624" y="2770632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816352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166360" y="2816352"/>
            <a:ext cx="1417320" cy="118872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0" y="2770632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91256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Автопродление отключено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3191256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3236976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66360" y="3236976"/>
            <a:ext cx="944880" cy="118872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75120" y="3191256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Недостаточно средств для продления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3611880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3657600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32504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Ожидание продления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4032504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078224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166360" y="4078224"/>
            <a:ext cx="1181100" cy="118872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75120" y="4032504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5312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Неуспешные продления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9624" y="4453128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4498848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75120" y="445312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73752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Услуга приостановлена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9624" y="4873752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4919472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0" y="4873752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94376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Доля неуспешных продлений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9624" y="5294376"/>
            <a:ext cx="1170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 2.5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5340096"/>
            <a:ext cx="1417320" cy="118872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0" y="5294376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0.0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5870448"/>
            <a:ext cx="6766560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" y="599846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02B3A"/>
                </a:solidFill>
                <a:latin typeface="Inter"/>
                <a:ea typeface="Inter"/>
                <a:cs typeface="Inter"/>
              </a:rPr>
              <a:t>Итог: </a:t>
            </a:r>
            <a:r>
              <a:rPr sz="1250" b="0">
                <a:solidFill>
                  <a:srgbClr val="202B3A"/>
                </a:solidFill>
                <a:latin typeface="Inter"/>
                <a:ea typeface="Inter"/>
                <a:cs typeface="Inter"/>
              </a:rPr>
              <a:t>100 × 7.5 / 13 = 71.4 из 100. </a:t>
            </a:r>
            <a:r>
              <a:rPr sz="1250" b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Веса настраиваются аналитиком.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37744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КАК ЭТО ЧИТАТЬ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843784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21624" y="2798064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Балл — сила наблюдаемых сигналов, не вероятность ухода в процентах.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3904488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21624" y="3858768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Факторы не доказывают причину оттока: модель rule-based, без обучения.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965192"/>
            <a:ext cx="137160" cy="13716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21624" y="4919472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Нулевой вес исключает фактор; сумма весов пересчитывается.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ДЕНЕЖНАЯ ОЦЕНКА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Риск и деньги — разные величины,
поэтому считаются отдельно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Выручка под риском</a:t>
            </a:r>
          </a:p>
          <a:p>
            <a:pPr algn="l">
              <a:spcBef>
                <a:spcPts val="600"/>
              </a:spcBef>
            </a:pPr>
            <a:r>
              <a:rPr sz="270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5,80 €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прогноз в пределах горизонта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33672" y="2432304"/>
            <a:ext cx="0" cy="118872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89120" y="2432304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Предстоящие продления</a:t>
            </a:r>
          </a:p>
          <a:p>
            <a:pPr algn="l">
              <a:spcBef>
                <a:spcPts val="600"/>
              </a:spcBef>
            </a:pPr>
            <a:r>
              <a:rPr sz="27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17,03 €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сумма без учёта риска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45552" y="2432304"/>
            <a:ext cx="0" cy="118872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01000" y="2432304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Исторические пополнения</a:t>
            </a: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22 240,73 €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справочно, в прогноз не входит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3968496"/>
            <a:ext cx="10637215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4151376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ФОРМУЛА ИЗ КОДА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43984"/>
            <a:ext cx="5852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" y="4535424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DejaVu Sans Mono"/>
                <a:ea typeface="DejaVu Sans Mono"/>
                <a:cs typeface="DejaVu Sans Mono"/>
              </a:rPr>
              <a:t>revenue_at_risk = стоимость продления × балл риска /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Учитываются только продления внутри горизонта 30 дней и только по услугам, пригодным для прогноза. Баланс клиента и исторические пополнения в выручку под риском не входят.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151376"/>
            <a:ext cx="434340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06056" y="4297680"/>
            <a:ext cx="3904487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Клиент #10: выручка под риском 0,00 €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Несмотря на высокий балл, все его продления лежат в прошлом, а горизонт — окно вперёд. Денег в горизонте у него нет.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 этом и смысл разделять балл риска и выручку под риском: иначе мы показали бы ложную сумму.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17920"/>
            <a:ext cx="10637215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3276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Оценка приблизительная: она опирается на стоимость продления и балл риска, а не на подтверждённую историю платежей.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КЛЮЧЕВОЙ СЦЕНАРИЙ · ШАГ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7680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Меняем коэффициент
и сразу проверяем гипотезу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ВЕСА МОДЕЛИ · КОНФИГУРАЦИЯ ПО УМОЛЧАНИЮ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977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Близость даты окончания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77977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4553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Ожидание продления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14553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1129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Автопродление отключено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51129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7705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Недостаточно средств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7705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Неуспешные продления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24281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Услуга приостановлена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60857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7433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Доля неуспешных продлений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97433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1.5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394960"/>
            <a:ext cx="5029200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52297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Сумма весов 15,0. Меняем «Близость даты окончания»: 3 → 9.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799" y="2929291"/>
            <a:ext cx="5010914" cy="3593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08-metric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9292"/>
            <a:ext cx="5010912" cy="35933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0" y="3931920"/>
            <a:ext cx="5010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Панель метрик до изменения веса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43984"/>
            <a:ext cx="50109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Изменение веса — не косметика: оно уходит на сервер, сохраняется в базе и пересчитывает всю аналитику.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После сохранения меняются и баллы клиентов, и денежная оценка — это следующий слайд.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3CDB7"/>
                </a:solidFill>
                <a:latin typeface="Inter"/>
                <a:ea typeface="Inter"/>
                <a:cs typeface="Inter"/>
              </a:rPr>
              <a:t>КЛЮЧЕВОЙ СЦЕНАРИЙ · ШАГ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После пересчёта картина меняется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БАЛЛ РИСКА КЛИЕНТА #10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9AA7B8"/>
                </a:solidFill>
                <a:latin typeface="Inter"/>
                <a:ea typeface="Inter"/>
                <a:cs typeface="Inter"/>
              </a:rPr>
              <a:t>71.4</a:t>
            </a:r>
            <a:r>
              <a:rPr sz="4000" b="0">
                <a:solidFill>
                  <a:srgbClr val="9AA7B8"/>
                </a:solidFill>
                <a:latin typeface="Inter"/>
                <a:ea typeface="Inter"/>
                <a:cs typeface="Inter"/>
              </a:rPr>
              <a:t>  →  </a:t>
            </a:r>
            <a:r>
              <a:rPr sz="40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81.8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7739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Клиентов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020824"/>
            <a:ext cx="5806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9AA7B8"/>
                </a:solidFill>
                <a:latin typeface="Inter"/>
                <a:ea typeface="Inter"/>
                <a:cs typeface="Inter"/>
              </a:rPr>
              <a:t>3</a:t>
            </a:r>
            <a:r>
              <a:rPr sz="1900" b="0">
                <a:solidFill>
                  <a:srgbClr val="9AA7B8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900" b="1">
                <a:solidFill>
                  <a:srgbClr val="83CDB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63347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Клиентов среднего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880360"/>
            <a:ext cx="5806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9AA7B8"/>
                </a:solidFill>
                <a:latin typeface="Inter"/>
                <a:ea typeface="Inter"/>
                <a:cs typeface="Inter"/>
              </a:rPr>
              <a:t>3</a:t>
            </a:r>
            <a:r>
              <a:rPr sz="1900" b="0">
                <a:solidFill>
                  <a:srgbClr val="9AA7B8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900" b="1">
                <a:solidFill>
                  <a:srgbClr val="83CDB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49300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Выручка под риском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739896"/>
            <a:ext cx="5806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9AA7B8"/>
                </a:solidFill>
                <a:latin typeface="Inter"/>
                <a:ea typeface="Inter"/>
                <a:cs typeface="Inter"/>
              </a:rPr>
              <a:t>5,80 €</a:t>
            </a:r>
            <a:r>
              <a:rPr sz="1900" b="0">
                <a:solidFill>
                  <a:srgbClr val="9AA7B8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900" b="1">
                <a:solidFill>
                  <a:srgbClr val="83CDB7"/>
                </a:solidFill>
                <a:latin typeface="Inter"/>
                <a:ea typeface="Inter"/>
                <a:cs typeface="Inter"/>
              </a:rPr>
              <a:t>7,72 €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685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ДО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1151" y="4407407"/>
            <a:ext cx="9180913" cy="658370"/>
          </a:xfrm>
          <a:prstGeom prst="rect">
            <a:avLst/>
          </a:prstGeom>
          <a:solidFill>
            <a:srgbClr val="FFFFFF"/>
          </a:solidFill>
          <a:ln w="9525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08-metric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52" y="4407408"/>
            <a:ext cx="9180911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193792"/>
            <a:ext cx="685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ПОСЛЕ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1151" y="5193791"/>
            <a:ext cx="9180913" cy="658370"/>
          </a:xfrm>
          <a:prstGeom prst="rect">
            <a:avLst/>
          </a:prstGeom>
          <a:solidFill>
            <a:srgbClr val="FFFFFF"/>
          </a:solidFill>
          <a:ln w="9525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09-metrics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152" y="5193792"/>
            <a:ext cx="9180911" cy="658368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777240" y="6053328"/>
            <a:ext cx="10637215" cy="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18134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Изменён один вес: «Близость даты окончания», 3 → 9. Настройки сохраняются на сервере и переживают перезапуск процесса.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634D"/>
                </a:solidFill>
                <a:latin typeface="Inter"/>
                <a:ea typeface="Inter"/>
                <a:cs typeface="Inter"/>
              </a:rPr>
              <a:t>ЦЕННОСТЬ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Что получает аналитик
и чего система не обещает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ЧТО ПОЛУЧАЕТ СПЕЦИАЛИСТ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52928"/>
            <a:ext cx="137160" cy="13716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06424" y="2798064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Список клиентов, которым следует уделить внимание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11296"/>
            <a:ext cx="137160" cy="13716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06424" y="3456432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Объяснение факторов риска по каждой услуге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9664"/>
            <a:ext cx="137160" cy="13716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06424" y="4114800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Финансовый контекст: что именно под угрозой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828032"/>
            <a:ext cx="137160" cy="13716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06424" y="4773168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Проверку гипотез через изменение весов и горизонта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55080" y="2395728"/>
            <a:ext cx="0" cy="338328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60" y="239572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ЧЕГО МЫ НЕ ЗАЯВЛЯЕМ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852928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95744" y="2798064"/>
            <a:ext cx="43342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Балл риска — не откалиброванная вероятность оттока.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877056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4" y="3822192"/>
            <a:ext cx="43342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Модель rule-based: в данных нет исходов для обучения и валидации.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901184"/>
            <a:ext cx="137160" cy="137160"/>
          </a:xfrm>
          <a:prstGeom prst="rect">
            <a:avLst/>
          </a:prstGeom>
          <a:solidFill>
            <a:srgbClr val="EF6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95744" y="4846320"/>
            <a:ext cx="43342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02B3A"/>
                </a:solidFill>
                <a:latin typeface="Inter"/>
                <a:ea typeface="Inter"/>
                <a:cs typeface="Inter"/>
              </a:rPr>
              <a:t>Мы не измеряли снижение оттока и рост выручки.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961888"/>
            <a:ext cx="10637215" cy="0"/>
          </a:xfrm>
          <a:prstGeom prst="line">
            <a:avLst/>
          </a:prstGeom>
          <a:ln w="952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08990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Когда появятся данные об уходах, на тех же признаках можно обучить логистическую регрессию и откалибровать вероятности. Скоринг живёт в одном модуле именно для этого — контракт API и интерфейс при этом не меняются.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0"/>
                </a:solidFill>
                <a:latin typeface="Inter"/>
                <a:ea typeface="Inter"/>
                <a:cs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310896" cy="38100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3CDB7"/>
                </a:solidFill>
                <a:latin typeface="Inter"/>
                <a:ea typeface="Inter"/>
                <a:cs typeface="Inter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7680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Не ждать ухода клиента.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Дать команде возможность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634D"/>
                </a:solidFill>
                <a:latin typeface="Inter"/>
                <a:ea typeface="Inter"/>
                <a:cs typeface="Inter"/>
              </a:rPr>
              <a:t>действовать раньше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840480"/>
            <a:ext cx="1920240" cy="0"/>
          </a:xfrm>
          <a:prstGeom prst="line">
            <a:avLst/>
          </a:prstGeom>
          <a:ln w="25400">
            <a:solidFill>
              <a:srgbClr val="EF6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096512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[НАЗВАНИЕ КОМАНДЫ]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[ИМЯ УЧАСТНИКА 1] — [РОЛЬ УЧАСТНИКА 1]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[ИМЯ УЧАСТНИКА 2] — [РОЛЬ УЧАСТНИКА 2]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[ИМЯ УЧАСТНИКА 3] — [РОЛЬ УЧАСТНИКА 3]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[КОНТАКТ / TELEGRAM]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2615184"/>
            <a:ext cx="1261872" cy="1261872"/>
          </a:xfrm>
          <a:prstGeom prst="rect">
            <a:avLst/>
          </a:prstGeom>
          <a:noFill/>
          <a:ln w="11430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7443216" y="3246120"/>
            <a:ext cx="822960" cy="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54696" y="2834640"/>
            <a:ext cx="0" cy="82296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3760" y="3950208"/>
            <a:ext cx="1261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[ВСТАВИТЬ QR]</a:t>
            </a:r>
          </a:p>
          <a:p>
            <a:pPr algn="ctr"/>
            <a:r>
              <a:rPr sz="9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демо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8512" y="2615184"/>
            <a:ext cx="1261872" cy="1261872"/>
          </a:xfrm>
          <a:prstGeom prst="rect">
            <a:avLst/>
          </a:prstGeom>
          <a:noFill/>
          <a:ln w="11430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8887968" y="3246120"/>
            <a:ext cx="822960" cy="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99448" y="2834640"/>
            <a:ext cx="0" cy="82296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68512" y="3950208"/>
            <a:ext cx="1261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[ВСТАВИТЬ QR]</a:t>
            </a:r>
          </a:p>
          <a:p>
            <a:pPr algn="ctr"/>
            <a:r>
              <a:rPr sz="9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13264" y="2615184"/>
            <a:ext cx="1261872" cy="1261872"/>
          </a:xfrm>
          <a:prstGeom prst="rect">
            <a:avLst/>
          </a:prstGeom>
          <a:noFill/>
          <a:ln w="11430">
            <a:solidFill>
              <a:srgbClr val="33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0332720" y="3246120"/>
            <a:ext cx="822960" cy="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44200" y="2834640"/>
            <a:ext cx="0" cy="822960"/>
          </a:xfrm>
          <a:prstGeom prst="line">
            <a:avLst/>
          </a:prstGeom>
          <a:ln w="9525">
            <a:solidFill>
              <a:srgbClr val="33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13264" y="3950208"/>
            <a:ext cx="12618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[ВСТАВИТЬ QR]</a:t>
            </a:r>
          </a:p>
          <a:p>
            <a:pPr algn="ctr"/>
            <a:r>
              <a:rPr sz="9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контакты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82896"/>
            <a:ext cx="41879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GitHub: github.com/Pixelminds-hub/aeza-analizer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Демо-стенд: [АДРЕС СТЕНДА] — вставить подтверждённую ссылку и сгенерировать QR-код.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8615" y="63276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Inter"/>
                <a:ea typeface="Inter"/>
                <a:cs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